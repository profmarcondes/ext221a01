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Previsto</c:v>
                </c:pt>
              </c:strCache>
            </c:strRef>
          </c:tx>
          <c:spPr>
            <a:solidFill>
              <a:srgbClr val="A9C4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3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Municípios</c:v>
                  </c:pt>
                  <c:pt idx="1">
                    <c:v>Oficinas</c:v>
                  </c:pt>
                  <c:pt idx="2">
                    <c:v>Artigos em congressos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3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Municípios</c:v>
                  </c:pt>
                  <c:pt idx="1">
                    <c:v>Oficinas</c:v>
                  </c:pt>
                  <c:pt idx="2">
                    <c:v>Artigos em congressos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33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9525" cap="flat">
              <a:solidFill>
                <a:srgbClr val="E6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737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minuto.
Apresentar os integrantes do grupo e anunciar em uma frase o que o projeto faz: leva oficinas de robótica com Arduino a escolas públicas, usando hardware livre (open source).
Não confundir: os nomes no rodapé são os do NOSSO grupo, não os da equipe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minuto.
Sugestão de recurso visual: inserir aqui um mapa da região de Luzerna/Joaçaba destacando os municípios atendidos.
Fechar dizendo que a extensão surge como ponte entre esses dois 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minuto.
Destacar que a parceria com a Gerência Regional de Educação é o que abre a porta das escolas — sem articulação institucional, o projeto não teria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minutos.
Ponto-chave da fala: é um projeto de CONTINUIDADE, não uma ação isolada. A troca do Lego pelo Arduino barateou e permitiu montar os robôs no próprio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minutos.
Explicar que o formato curto (2 a 4 h) é o que torna a oficina compatível com a rotina escolar — mas essa também é uma das limitações que discutiremos no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minutos. ESTE É O SLIDE CENTRAL PARA A ÁREA DE EXATAS.
Percorrer o diagrama da esquerda para a direita explicando o caminho do sinal: o sensor lê a linha, o Arduino decide, o driver aciona, o motor move.
Fechar com o argumento do hardware livre — é a decisão técnica que sustenta o alcance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minuto.
Enfatizar que os 595 participantes foram alcançados em apenas 9 meses. Chamar atenção para a oficina no Piauí: o projeto extrapolou a região e até o estado de origem.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minuto.
Ler o gráfico rapidamente: municípios e oficinas dobraram em relação à meta; artigos ficaram no previsto.
Perguntas prováveis da turma: por que a meta de artigos não foi superada? Não há dado no artigo original — assumir a lacuna em vez de especular.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minuto.
O ponto mais interessante para a nossa turma é o do meio: a extensão também forma o estudante de engenharia. Guardar essa ideia, porque ela reaparece na conclusão.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minutos.
Este slide é o mais importante da avaliação: precisa ser análise NOSSA.
Argumento central da coluna do meio: o projeto mede quantas pessoas alcançou, mas não mede o que elas aprenderam.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minuto. Depois, abrir 5 minutos para perguntas.
Perguntas prováveis para preparar: quanto custa um kit? o projeto ainda existe hoje? como replicar na nossa cidade?
Lembrar que nossos dados vão até 2017 — ser honesto sobre essa limitação se perguntarem sobre a situação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114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114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8641080" y="4114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8229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8229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8641080" y="123444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EXTENSÃO UNIVERSITÁRIA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Robótica Pedagógica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Arduino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livre nas escolas públicas do Meio-Oeste Catarinense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1463040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Federal Catarinense — Campus Luzerna (SC)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[nomes dos integrantes do grupo]  ·  [disciplina]  ·  [data]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que originou 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930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9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desigual à tecnologia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56362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públicas do interior de Santa Catarina com pouco ou nenhum contato com eletrônica, programação e robótica.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40487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04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sem formação na área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26791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educação básica raramente oferece capacitação docente nessas tecnologias.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4655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retido no campus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saber técnico produzido na instituição não chegava à comunidade do entorno.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2926080" cy="0"/>
          </a:xfrm>
          <a:prstGeom prst="line">
            <a:avLst/>
          </a:prstGeom>
          <a:noFill/>
          <a:ln w="15875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1216" y="49286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2980944" y="4983480"/>
            <a:ext cx="685800" cy="0"/>
          </a:xfrm>
          <a:prstGeom prst="line">
            <a:avLst/>
          </a:prstGeom>
          <a:noFill/>
          <a:ln w="15875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11880" y="49286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8366760" y="4498848"/>
            <a:ext cx="329184" cy="329184"/>
          </a:xfrm>
          <a:prstGeom prst="ellipse">
            <a:avLst/>
          </a:prstGeom>
          <a:solidFill>
            <a:srgbClr val="F4F8F8"/>
          </a:solidFill>
          <a:ln w="9525">
            <a:solidFill>
              <a:srgbClr val="DD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Público-alvo e parceiros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de escolas estaduais e municipais da região de Luzerna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da rede pública, em oficinas de formação específicas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atendidas pelo Projeto Rondon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5544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544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74920" y="20574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7ª Gerência Regional de Educação da SED-SC (Joaçaba)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Joaçaba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estaduais e municipais parceiras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Rondon, como frente de expansão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66760" y="4498848"/>
            <a:ext cx="329184" cy="329184"/>
          </a:xfrm>
          <a:prstGeom prst="ellipse">
            <a:avLst/>
          </a:prstGeom>
          <a:solidFill>
            <a:srgbClr val="F4F8F8"/>
          </a:solidFill>
          <a:ln w="9525">
            <a:solidFill>
              <a:srgbClr val="DD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Identificação do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8138160" cy="475488"/>
          </a:xfrm>
          <a:prstGeom prst="rect">
            <a:avLst/>
          </a:prstGeom>
          <a:solidFill>
            <a:srgbClr val="F4F8F8"/>
          </a:solidFill>
          <a:ln w="3175">
            <a:solidFill>
              <a:srgbClr val="F4F8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704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80360" y="117043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— Campus Luzerna (SC)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vinculados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66420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de Controle e Automação · Téc. em Automação Industrial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57984"/>
            <a:ext cx="8138160" cy="475488"/>
          </a:xfrm>
          <a:prstGeom prst="rect">
            <a:avLst/>
          </a:prstGeom>
          <a:solidFill>
            <a:srgbClr val="F4F8F8"/>
          </a:solidFill>
          <a:ln w="3175">
            <a:solidFill>
              <a:srgbClr val="F4F8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5798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157984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Illyushin Zaak Saraiva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65176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professores · 3 bolsistas · 3 voluntários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145536"/>
            <a:ext cx="8138160" cy="475488"/>
          </a:xfrm>
          <a:prstGeom prst="rect">
            <a:avLst/>
          </a:prstGeom>
          <a:solidFill>
            <a:srgbClr val="F4F8F8"/>
          </a:solidFill>
          <a:ln w="3175">
            <a:solidFill>
              <a:srgbClr val="F4F8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4553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3145536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em 01/11/2016 (ação antecedente desde 2014)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63931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363931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Pró-Reitorias de Pesquisa e Extensão do IFC · CNPq na fase anterior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224528"/>
            <a:ext cx="7635240" cy="530352"/>
          </a:xfrm>
          <a:prstGeom prst="roundRect">
            <a:avLst>
              <a:gd name="adj" fmla="val 13793"/>
            </a:avLst>
          </a:prstGeom>
          <a:solidFill>
            <a:srgbClr val="E6F4F1"/>
          </a:solidFill>
          <a:ln w="9525">
            <a:solidFill>
              <a:srgbClr val="CD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24528"/>
            <a:ext cx="7269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continuidade: a primeira versão usava kits Lego Mindstorms — a migração para Arduino foi uma decisão técnica e econômica.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66760" y="4498848"/>
            <a:ext cx="329184" cy="329184"/>
          </a:xfrm>
          <a:prstGeom prst="ellipse">
            <a:avLst/>
          </a:prstGeom>
          <a:solidFill>
            <a:srgbClr val="F4F8F8"/>
          </a:solidFill>
          <a:ln w="9525">
            <a:solidFill>
              <a:srgbClr val="DD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 uma oficina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869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de 2 a 4 horas, realizada na escola ou no campus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377440" cy="2788920"/>
          </a:xfrm>
          <a:prstGeom prst="roundRect">
            <a:avLst>
              <a:gd name="adj" fmla="val 3077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5C737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prévio com a direção da escola e adequação da atividade ao perfil da turma.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teórica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robótica e à sua evolução histórica, apresentada em slides pelos bolsistas.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371600"/>
            <a:ext cx="2697480" cy="2788920"/>
          </a:xfrm>
          <a:prstGeom prst="roundRect">
            <a:avLst>
              <a:gd name="adj" fmla="val 2712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45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prática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5603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 seguidores de linha montados com kits Arduino percorrem uma pista de corrida no local.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617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Sugestão: substituir um dos blocos por foto do robô seguidor de linha, citando a fonte.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366760" y="4498848"/>
            <a:ext cx="329184" cy="329184"/>
          </a:xfrm>
          <a:prstGeom prst="ellipse">
            <a:avLst/>
          </a:prstGeom>
          <a:solidFill>
            <a:srgbClr val="F4F8F8"/>
          </a:solidFill>
          <a:ln w="9525">
            <a:solidFill>
              <a:srgbClr val="DD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eletrônica por trás do robô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869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Conhecimentos técnicos de exatas aplicados na prática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241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361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óptico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562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 linha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8470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14600" y="14173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241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361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18562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controle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18470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241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5361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18562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 e controla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motores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8470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37960" y="14173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241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5361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18562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robô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Conteúdos técnicos mobilizados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27355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de circuitos com microcontrolador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 e integração hardware-software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embarcada do seguidor de linha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12414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hardware livre?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baixo · robôs montados pelos próprios bolsistas no campus · solução replicável pelas escolas depois da oficina.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869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acumulados até 28 de julho de 2017 — 9 meses de execução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2212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0" y="1325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417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00400" y="2212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oficinas realizadas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1325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417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5897880" y="2212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· 2 estados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projeto esteve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3273552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Joaçaba, Capinzal, Erval Velho e o próprio campus de Luzerna (SC)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Floriano (PI) — oficina no Colégio Técnico da UFPI, com 100 participantes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Balneário Rincão (SC) — 6 oficinas pelo Projeto Rondon, mais de 300 participantes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para professores da rede municipal de Joaçaba — 25 participantes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66760" y="4498848"/>
            <a:ext cx="329184" cy="329184"/>
          </a:xfrm>
          <a:prstGeom prst="ellipse">
            <a:avLst/>
          </a:prstGeom>
          <a:solidFill>
            <a:srgbClr val="F4F8F8"/>
          </a:solidFill>
          <a:ln w="9525">
            <a:solidFill>
              <a:srgbClr val="DD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 previstas x resultados alcançados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11480" y="1234440"/>
          <a:ext cx="52578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2344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A2E36"/>
          </a:solidFill>
          <a:ln/>
        </p:spPr>
      </p:sp>
      <p:sp>
        <p:nvSpPr>
          <p:cNvPr id="5" name="Text 2"/>
          <p:cNvSpPr/>
          <p:nvPr/>
        </p:nvSpPr>
        <p:spPr>
          <a:xfrm>
            <a:off x="6126480" y="1417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ATENDIDO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126480" y="1691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595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12648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era 500 até nov/2017 — atingida já em julho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30175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E6F4F1"/>
          </a:solidFill>
          <a:ln w="9525">
            <a:solidFill>
              <a:srgbClr val="CDE8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3154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metas numéricas foram cumpridas — e a maioria, superada em menos tempo que o previsto.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66760" y="4498848"/>
            <a:ext cx="329184" cy="329184"/>
          </a:xfrm>
          <a:prstGeom prst="ellipse">
            <a:avLst/>
          </a:prstGeom>
          <a:solidFill>
            <a:srgbClr val="F4F8F8"/>
          </a:solidFill>
          <a:ln w="9525">
            <a:solidFill>
              <a:srgbClr val="DDE6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Impactos observados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36192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44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comunidade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contato de centenas de estudantes da rede pública com eletrônica e programação — divulgação científica na prática.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33472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os bolsistas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8346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completa de projeto, montagem, docência e publicação científica em congressos da área.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730752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5C737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instituição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9319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do IFC em municípios onde não atuava e formação de equipe qualificada para novas ações de extensão.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2926080" cy="0"/>
          </a:xfrm>
          <a:prstGeom prst="line">
            <a:avLst/>
          </a:prstGeom>
          <a:noFill/>
          <a:ln w="15875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1216" y="492861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2980944" y="4983480"/>
            <a:ext cx="685800" cy="0"/>
          </a:xfrm>
          <a:prstGeom prst="line">
            <a:avLst/>
          </a:prstGeom>
          <a:noFill/>
          <a:ln w="15875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11880" y="492861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8366760" y="4498848"/>
            <a:ext cx="329184" cy="329184"/>
          </a:xfrm>
          <a:prstGeom prst="ellipse">
            <a:avLst/>
          </a:prstGeom>
          <a:solidFill>
            <a:srgbClr val="F4F8F8"/>
          </a:solidFill>
          <a:ln w="9525">
            <a:solidFill>
              <a:srgbClr val="DD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análise crítica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869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grupo sobre o projeto — não é o que o projeto diz de si mesmo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971800"/>
          </a:xfrm>
          <a:prstGeom prst="roundRect">
            <a:avLst>
              <a:gd name="adj" fmla="val 2759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mensuráveis e superadas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livre: barato e replicável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professores multiplica o alcance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2971800"/>
          </a:xfrm>
          <a:prstGeom prst="roundRect">
            <a:avLst>
              <a:gd name="adj" fmla="val 2759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37160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3716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Oficinas curtas, sem continuidade garantida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bolsas e editais internos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só quantitativos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2971800"/>
          </a:xfrm>
          <a:prstGeom prst="roundRect">
            <a:avLst>
              <a:gd name="adj" fmla="val 2759"/>
            </a:avLst>
          </a:prstGeom>
          <a:solidFill>
            <a:srgbClr val="F4F8F8"/>
          </a:solidFill>
          <a:ln w="9525">
            <a:solidFill>
              <a:srgbClr val="E1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37160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3716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aprendizagem antes e depois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Emprestar kits às escolas parceiras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frente de formação docente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66760" y="4498848"/>
            <a:ext cx="329184" cy="329184"/>
          </a:xfrm>
          <a:prstGeom prst="ellipse">
            <a:avLst/>
          </a:prstGeom>
          <a:solidFill>
            <a:srgbClr val="F4F8F8"/>
          </a:solidFill>
          <a:ln w="9525">
            <a:solidFill>
              <a:srgbClr val="DDE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188720"/>
          </a:xfrm>
          <a:prstGeom prst="roundRect">
            <a:avLst>
              <a:gd name="adj" fmla="val 6154"/>
            </a:avLst>
          </a:prstGeom>
          <a:solidFill>
            <a:srgbClr val="12414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2588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extensão em exatas é via de mão dupla: leva tecnologia à comunidade e, ao mesmo tempo, forma o engenheiro em comunicação, planejamento e trabalho em equipe — competências pouco exercitadas nas disciplinas técnicas.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SARAIVA, I. Z. et al. Extensão Tecnológica e hardware livre: resultados do projeto de robótica pedagógica com Arduino do IFC-Campus Luzerna nas Escolas Públicas do Meio-Oeste Catarinense. Anais do 35º SEURS. Foz do Iguaçu: Proex/UNILA, 2017. p. 168-173. ISSN 1983-6554.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MONK, S. 30 Projetos com Arduino. 2. ed. Porto Alegre: Bookman, 2014.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JEZINE, E. As Práticas Curriculares e a Extensão Universitária. Anais do 2º Congresso Brasileiro de Extensão Universitária. Belo Horizonte, 2004.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 — perguntas?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Robótica Pedagógica com Arduino - IFC Campus Luzerna</dc:title>
  <dc:subject>PptxGenJS Presentation</dc:subject>
  <dc:creator>Modelo de apresentação - Atividade de Extensão</dc:creator>
  <cp:lastModifiedBy>Modelo de apresentação - Atividade de Extensão</cp:lastModifiedBy>
  <cp:revision>1</cp:revision>
  <dcterms:created xsi:type="dcterms:W3CDTF">2026-08-13T17:58:12Z</dcterms:created>
  <dcterms:modified xsi:type="dcterms:W3CDTF">2026-08-13T17:58:12Z</dcterms:modified>
</cp:coreProperties>
</file>